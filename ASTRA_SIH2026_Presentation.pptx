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r>
              <a:rPr sz="4400" b="1">
                <a:solidFill>
                  <a:srgbClr val="12354F"/>
                </a:solidFill>
              </a:rPr>
              <a:t>ASTRA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800">
                <a:solidFill>
                  <a:srgbClr val="4A6F8A"/>
                </a:solidFill>
              </a:rPr>
              <a:t>Adaptive Spectrum Threat Recognition &amp; Analysis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</a:rPr>
              <a:t>Problem Statement ID: </a:t>
            </a:r>
            <a:r>
              <a:rPr sz="1400">
                <a:solidFill>
                  <a:srgbClr val="12354F"/>
                </a:solidFill>
              </a:rPr>
              <a:t>26055</a:t>
            </a:r>
            <a:endParaRPr lang="en-US" dirty="0"/>
          </a:p>
          <a:p>
            <a:pPr algn="l"/>
            <a:r>
              <a:rPr sz="1400" b="1">
                <a:solidFill>
                  <a:srgbClr val="333333"/>
                </a:solidFill>
              </a:rPr>
              <a:t>Problem Statement Title: </a:t>
            </a:r>
            <a:r>
              <a:rPr sz="1400">
                <a:solidFill>
                  <a:srgbClr val="12354F"/>
                </a:solidFill>
              </a:rPr>
              <a:t>Smart Scan Strategy for Electronic Warfare</a:t>
            </a:r>
          </a:p>
          <a:p>
            <a:pPr algn="l"/>
            <a:r>
              <a:rPr sz="1400" b="1">
                <a:solidFill>
                  <a:srgbClr val="333333"/>
                </a:solidFill>
              </a:rPr>
              <a:t>Theme: </a:t>
            </a:r>
            <a:r>
              <a:rPr sz="1400">
                <a:solidFill>
                  <a:srgbClr val="12354F"/>
                </a:solidFill>
              </a:rPr>
              <a:t>Defense Technology</a:t>
            </a:r>
          </a:p>
          <a:p>
            <a:pPr algn="l"/>
            <a:r>
              <a:rPr sz="1400" b="1">
                <a:solidFill>
                  <a:srgbClr val="333333"/>
                </a:solidFill>
              </a:rPr>
              <a:t>PS Category: </a:t>
            </a:r>
            <a:r>
              <a:rPr sz="1400">
                <a:solidFill>
                  <a:srgbClr val="12354F"/>
                </a:solidFill>
              </a:rPr>
              <a:t>Software</a:t>
            </a:r>
          </a:p>
          <a:p>
            <a:pPr algn="l"/>
            <a:r>
              <a:rPr sz="1400" b="1">
                <a:solidFill>
                  <a:srgbClr val="333333"/>
                </a:solidFill>
              </a:rPr>
              <a:t>Team ID: </a:t>
            </a:r>
            <a:r>
              <a:rPr sz="1400">
                <a:solidFill>
                  <a:srgbClr val="12354F"/>
                </a:solidFill>
              </a:rPr>
              <a:t>MCS</a:t>
            </a:r>
          </a:p>
          <a:p>
            <a:pPr algn="l"/>
            <a:r>
              <a:rPr sz="1400" b="1">
                <a:solidFill>
                  <a:srgbClr val="333333"/>
                </a:solidFill>
              </a:rPr>
              <a:t>Team Name: </a:t>
            </a:r>
            <a:r>
              <a:rPr sz="1400">
                <a:solidFill>
                  <a:srgbClr val="12354F"/>
                </a:solidFill>
              </a:rPr>
              <a:t>Team MCS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2800" b="1">
                <a:solidFill>
                  <a:srgbClr val="12354F"/>
                </a:solidFill>
              </a:rPr>
              <a:t>ASTRA: Smart Scan Strategy for Electronic Warfare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1100" b="1">
                <a:solidFill>
                  <a:srgbClr val="12354F"/>
                </a:solidFill>
              </a:rPr>
              <a:t>THE PROBLEM: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sz="1100">
                <a:solidFill>
                  <a:srgbClr val="333333"/>
                </a:solidFill>
              </a:rPr>
              <a:t>• ES receivers scan one band at a time — interception is a 2D search (right frequency + right time)</a:t>
            </a:r>
          </a:p>
          <a:p>
            <a:r>
              <a:rPr sz="1100">
                <a:solidFill>
                  <a:srgbClr val="333333"/>
                </a:solidFill>
              </a:rPr>
              <a:t>• Current open-loop strategies use fixed pre-mission patterns; they waste time on clutter and miss new threats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OUR SOLUTION — SmartScan:</a:t>
            </a:r>
          </a:p>
          <a:p>
            <a:r>
              <a:rPr sz="1100">
                <a:solidFill>
                  <a:srgbClr val="333333"/>
                </a:solidFill>
              </a:rPr>
              <a:t>• Confidence-multiplexed adaptive scheduler with 5 behaviors: Recon, Cued Pursuit, Predict &amp; Probe, Burst Characterisation, Value Rotation</a:t>
            </a:r>
          </a:p>
          <a:p>
            <a:r>
              <a:rPr sz="1100">
                <a:solidFill>
                  <a:srgbClr val="333333"/>
                </a:solidFill>
              </a:rPr>
              <a:t>• Learns emitter rhythms online — no prior intelligence required</a:t>
            </a:r>
          </a:p>
          <a:p>
            <a:r>
              <a:rPr sz="1100">
                <a:solidFill>
                  <a:srgbClr val="333333"/>
                </a:solidFill>
              </a:rPr>
              <a:t>• Predicts transmission windows and arrives early — interception becomes schedule, not luck</a:t>
            </a:r>
          </a:p>
          <a:p>
            <a:r>
              <a:rPr sz="1100">
                <a:solidFill>
                  <a:srgbClr val="333333"/>
                </a:solidFill>
              </a:rPr>
              <a:t>• Self-validating: stale predictions auto-destruct after 5 misses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KEY INNOVATIONS:</a:t>
            </a:r>
          </a:p>
          <a:p>
            <a:r>
              <a:rPr sz="1100">
                <a:solidFill>
                  <a:srgbClr val="333333"/>
                </a:solidFill>
              </a:rPr>
              <a:t>• SNR + AOA fingerprinting separates co-channel emitters</a:t>
            </a:r>
          </a:p>
          <a:p>
            <a:r>
              <a:rPr sz="1100">
                <a:solidFill>
                  <a:srgbClr val="333333"/>
                </a:solidFill>
              </a:rPr>
              <a:t>• Rayleigh significance testing for period estimation</a:t>
            </a:r>
          </a:p>
          <a:p>
            <a:r>
              <a:rPr sz="1100">
                <a:solidFill>
                  <a:srgbClr val="333333"/>
                </a:solidFill>
              </a:rPr>
              <a:t>• KPP-gated Mission Effectiveness Score (defence T&amp;E methodology)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800" b="1">
                <a:solidFill>
                  <a:srgbClr val="12354F"/>
                </a:solidFill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100" b="1">
                <a:solidFill>
                  <a:srgbClr val="12354F"/>
                </a:solidFill>
              </a:rPr>
              <a:t>TECHNOLOGY STACK:</a:t>
            </a:r>
          </a:p>
          <a:p>
            <a:r>
              <a:rPr sz="1100">
                <a:solidFill>
                  <a:srgbClr val="333333"/>
                </a:solidFill>
              </a:rPr>
              <a:t>• Core Engine: Python 3.12 + NumPy (simulation, scheduling, metrics)</a:t>
            </a:r>
          </a:p>
          <a:p>
            <a:r>
              <a:rPr sz="1100">
                <a:solidFill>
                  <a:srgbClr val="333333"/>
                </a:solidFill>
              </a:rPr>
              <a:t>• ML: NumPy MLP (DQN), Rayleigh period estimator, UCB bandits, Q-learning</a:t>
            </a:r>
          </a:p>
          <a:p>
            <a:r>
              <a:rPr sz="1100">
                <a:solidFill>
                  <a:srgbClr val="333333"/>
                </a:solidFill>
              </a:rPr>
              <a:t>• Backend: FastAPI + Uvicorn (REST API + Server-Sent Events)</a:t>
            </a:r>
          </a:p>
          <a:p>
            <a:r>
              <a:rPr sz="1100">
                <a:solidFill>
                  <a:srgbClr val="333333"/>
                </a:solidFill>
              </a:rPr>
              <a:t>• Frontend: React 18 + TypeScript + Vite + Canvas API (radar visualization)</a:t>
            </a:r>
          </a:p>
          <a:p>
            <a:r>
              <a:rPr sz="1100">
                <a:solidFill>
                  <a:srgbClr val="333333"/>
                </a:solidFill>
              </a:rPr>
              <a:t>• Desktop: PySide6 (Qt) with embedded Qt WebEngine</a:t>
            </a:r>
          </a:p>
          <a:p>
            <a:r>
              <a:rPr sz="1100">
                <a:solidFill>
                  <a:srgbClr val="333333"/>
                </a:solidFill>
              </a:rPr>
              <a:t>• Database: SQLite (metrics persistence, mission history)</a:t>
            </a:r>
          </a:p>
          <a:p>
            <a:r>
              <a:rPr sz="1100">
                <a:solidFill>
                  <a:srgbClr val="333333"/>
                </a:solidFill>
              </a:rPr>
              <a:t>• Packaging: PyInstaller + Inno Setup (signed Windows installer ~131 MB)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ARCHITECTURE: 7-layer pipeline</a:t>
            </a:r>
          </a:p>
          <a:p>
            <a:r>
              <a:rPr sz="1100">
                <a:solidFill>
                  <a:srgbClr val="333333"/>
                </a:solidFill>
              </a:rPr>
              <a:t>Environment → Receiver Physics → 7 Schedulers → Metrics → KPP Gate → MES Score → Live Arena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EVALUATION:</a:t>
            </a:r>
          </a:p>
          <a:p>
            <a:r>
              <a:rPr sz="1100">
                <a:solidFill>
                  <a:srgbClr val="333333"/>
                </a:solidFill>
              </a:rPr>
              <a:t>• 200-episode Monte Carlo with 95% confidence intervals</a:t>
            </a:r>
          </a:p>
          <a:p>
            <a:r>
              <a:rPr sz="1100">
                <a:solidFill>
                  <a:srgbClr val="333333"/>
                </a:solidFill>
              </a:rPr>
              <a:t>• Paired permutation tests + Holm-Bonferroni correction (p &lt; 1e-4)</a:t>
            </a:r>
          </a:p>
          <a:p>
            <a:r>
              <a:rPr sz="1100">
                <a:solidFill>
                  <a:srgbClr val="333333"/>
                </a:solidFill>
              </a:rPr>
              <a:t>• Sensitivity sweep across bands, SNR, agility, density</a:t>
            </a:r>
          </a:p>
          <a:p>
            <a:r>
              <a:rPr sz="1100">
                <a:solidFill>
                  <a:srgbClr val="333333"/>
                </a:solidFill>
              </a:rPr>
              <a:t>• 62 automated tests · Docker · Reproducible seeds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800" b="1">
                <a:solidFill>
                  <a:srgbClr val="12354F"/>
                </a:solidFill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100" b="1">
                <a:solidFill>
                  <a:srgbClr val="12354F"/>
                </a:solidFill>
              </a:rPr>
              <a:t>FEASIBILITY — PROVEN BY RESULTS: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1100">
                <a:solidFill>
                  <a:srgbClr val="333333"/>
                </a:solidFill>
              </a:rPr>
              <a:t>• SmartScan achieves 95.0% threat coverage (vs 77.9% sequential) — exceeds 90% KPP gate</a:t>
            </a:r>
          </a:p>
          <a:p>
            <a:r>
              <a:rPr sz="1100">
                <a:solidFill>
                  <a:srgbClr val="333333"/>
                </a:solidFill>
              </a:rPr>
              <a:t>• 2.1× higher reward per dwell than sequential sweep baseline</a:t>
            </a:r>
          </a:p>
          <a:p>
            <a:r>
              <a:rPr sz="1100">
                <a:solidFill>
                  <a:srgbClr val="333333"/>
                </a:solidFill>
              </a:rPr>
              <a:t>• 58.1% prediction accuracy (vs 45.8% sequential) — above 50% KPP threshold</a:t>
            </a:r>
          </a:p>
          <a:p>
            <a:r>
              <a:rPr sz="1100">
                <a:solidFill>
                  <a:srgbClr val="333333"/>
                </a:solidFill>
              </a:rPr>
              <a:t>• Only mission-capable scheduler in a field of 7 competing policies</a:t>
            </a:r>
          </a:p>
          <a:p>
            <a:r>
              <a:rPr sz="1100">
                <a:solidFill>
                  <a:srgbClr val="333333"/>
                </a:solidFill>
              </a:rPr>
              <a:t>• Statistical significance at p &lt; 1e-4 (Holm-corrected paired permutation tests)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CHALLENGES &amp; MITIGATIONS:</a:t>
            </a:r>
          </a:p>
          <a:p>
            <a:r>
              <a:rPr sz="1100">
                <a:solidFill>
                  <a:srgbClr val="333333"/>
                </a:solidFill>
              </a:rPr>
              <a:t>• DQN struggles with sparse rewards → Correctly disclosed as negative result; SmartScan hybrid approach succeeds</a:t>
            </a:r>
          </a:p>
          <a:p>
            <a:r>
              <a:rPr sz="1100">
                <a:solidFill>
                  <a:srgbClr val="333333"/>
                </a:solidFill>
              </a:rPr>
              <a:t>• No real SDR hardware validation → UDP bridge exists for future hardware integration</a:t>
            </a:r>
          </a:p>
          <a:p>
            <a:r>
              <a:rPr sz="1100">
                <a:solidFill>
                  <a:srgbClr val="333333"/>
                </a:solidFill>
              </a:rPr>
              <a:t>• Synthetic scenarios only → All configs parameterized; real-world data calibration supported</a:t>
            </a:r>
          </a:p>
          <a:p>
            <a:r>
              <a:rPr sz="1100">
                <a:solidFill>
                  <a:srgbClr val="333333"/>
                </a:solidFill>
              </a:rPr>
              <a:t>• Self-signed installer → Professional code signing available post-hackathon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VIABILITY:</a:t>
            </a:r>
          </a:p>
          <a:p>
            <a:r>
              <a:rPr sz="1100">
                <a:solidFill>
                  <a:srgbClr val="333333"/>
                </a:solidFill>
              </a:rPr>
              <a:t>• End-to-end prototype: simulation → scheduling → desktop app → presentation website</a:t>
            </a:r>
          </a:p>
          <a:p>
            <a:r>
              <a:rPr sz="1100">
                <a:solidFill>
                  <a:srgbClr val="333333"/>
                </a:solidFill>
              </a:rPr>
              <a:t>• 62 automated tests · Docker one-command deployment · Full documentation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800" b="1">
                <a:solidFill>
                  <a:srgbClr val="12354F"/>
                </a:solidFill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100" b="1">
                <a:solidFill>
                  <a:srgbClr val="12354F"/>
                </a:solidFill>
              </a:rPr>
              <a:t>DEFENSE IMPACT:</a:t>
            </a:r>
          </a:p>
          <a:p>
            <a:r>
              <a:rPr sz="1100">
                <a:solidFill>
                  <a:srgbClr val="333333"/>
                </a:solidFill>
              </a:rPr>
              <a:t>• Earlier threat detection → more reaction time for countermeasures</a:t>
            </a:r>
          </a:p>
          <a:p>
            <a:r>
              <a:rPr sz="1100">
                <a:solidFill>
                  <a:srgbClr val="333333"/>
                </a:solidFill>
              </a:rPr>
              <a:t>• 95% interception rate vs 78% conventional → near-complete situational awareness</a:t>
            </a:r>
          </a:p>
          <a:p>
            <a:r>
              <a:rPr sz="1100">
                <a:solidFill>
                  <a:srgbClr val="333333"/>
                </a:solidFill>
              </a:rPr>
              <a:t>• No prior intelligence needed → works against unknown/new threats</a:t>
            </a:r>
          </a:p>
          <a:p>
            <a:r>
              <a:rPr sz="1100">
                <a:solidFill>
                  <a:srgbClr val="333333"/>
                </a:solidFill>
              </a:rPr>
              <a:t>• Multi-receiver scaling: 3 receivers achieve 99.8% coverage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TECHNOLOGY IMPACT:</a:t>
            </a:r>
          </a:p>
          <a:p>
            <a:r>
              <a:rPr sz="1100">
                <a:solidFill>
                  <a:srgbClr val="333333"/>
                </a:solidFill>
              </a:rPr>
              <a:t>• Open-source ML-based ES scheduler — reproducible, auditable, extensible</a:t>
            </a:r>
          </a:p>
          <a:p>
            <a:r>
              <a:rPr sz="1100">
                <a:solidFill>
                  <a:srgbClr val="333333"/>
                </a:solidFill>
              </a:rPr>
              <a:t>• Complete evaluation framework: Monte Carlo + significance testing + KPP gating</a:t>
            </a:r>
          </a:p>
          <a:p>
            <a:r>
              <a:rPr sz="1100">
                <a:solidFill>
                  <a:srgbClr val="333333"/>
                </a:solidFill>
              </a:rPr>
              <a:t>• Real-time demonstration: two receivers on identical battlefields, side-by-side comparison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SOCIAL &amp; ECONOMIC BENEFITS:</a:t>
            </a:r>
          </a:p>
          <a:p>
            <a:r>
              <a:rPr sz="1100">
                <a:solidFill>
                  <a:srgbClr val="333333"/>
                </a:solidFill>
              </a:rPr>
              <a:t>• Reduces operator workload — automated scheduling replaces manual band selection</a:t>
            </a:r>
          </a:p>
          <a:p>
            <a:r>
              <a:rPr sz="1100">
                <a:solidFill>
                  <a:srgbClr val="333333"/>
                </a:solidFill>
              </a:rPr>
              <a:t>• Extends existing receiver capabilities via software upgrade (no hardware changes)</a:t>
            </a:r>
          </a:p>
          <a:p>
            <a:r>
              <a:rPr sz="1100">
                <a:solidFill>
                  <a:srgbClr val="333333"/>
                </a:solidFill>
              </a:rPr>
              <a:t>• Educational value — demonstrates ML applied to real defense problems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SCALABILITY:</a:t>
            </a:r>
          </a:p>
          <a:p>
            <a:r>
              <a:rPr sz="1100">
                <a:solidFill>
                  <a:srgbClr val="333333"/>
                </a:solidFill>
              </a:rPr>
              <a:t>• Desktop app for field use, web dashboard for command center</a:t>
            </a:r>
          </a:p>
          <a:p>
            <a:r>
              <a:rPr sz="1100">
                <a:solidFill>
                  <a:srgbClr val="333333"/>
                </a:solidFill>
              </a:rPr>
              <a:t>• UDP bridge for real SDR hardware integration</a:t>
            </a:r>
          </a:p>
          <a:p>
            <a:r>
              <a:rPr sz="1100">
                <a:solidFill>
                  <a:srgbClr val="333333"/>
                </a:solidFill>
              </a:rPr>
              <a:t>• Configurable for different spectrum environments and threat types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800" b="1">
                <a:solidFill>
                  <a:srgbClr val="12354F"/>
                </a:solidFill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100" b="1">
                <a:solidFill>
                  <a:srgbClr val="12354F"/>
                </a:solidFill>
              </a:rPr>
              <a:t>KEY RESEARCH REFERENCES: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1100">
                <a:solidFill>
                  <a:srgbClr val="333333"/>
                </a:solidFill>
              </a:rPr>
              <a:t>• Siouris, G.M. — "Engineering Handbook of Intelligent Aircraft Systems" — ES receiver scheduling theory</a:t>
            </a:r>
          </a:p>
          <a:p>
            <a:r>
              <a:rPr sz="1100">
                <a:solidFill>
                  <a:srgbClr val="333333"/>
                </a:solidFill>
              </a:rPr>
              <a:t>• Wiley, R.G. — "Electronic Intelligence: The Analysis of Radar Signals" — PDW analysis methodology</a:t>
            </a:r>
          </a:p>
          <a:p>
            <a:r>
              <a:rPr sz="1100">
                <a:solidFill>
                  <a:srgbClr val="333333"/>
                </a:solidFill>
              </a:rPr>
              <a:t>• Pozza, L. et al. — "Spectrum Sensing for Cognitive Radio: Architecture and Algorithms" — bandit approaches</a:t>
            </a:r>
          </a:p>
          <a:p>
            <a:r>
              <a:rPr sz="1100">
                <a:solidFill>
                  <a:srgbClr val="333333"/>
                </a:solidFill>
              </a:rPr>
              <a:t>• Sutton, R.S. &amp; Barto, A.G. — "Reinforcement Learning: An Introduction" — Q-learning, DQN foundations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DATASETS:</a:t>
            </a:r>
          </a:p>
          <a:p>
            <a:r>
              <a:rPr sz="1100">
                <a:solidFill>
                  <a:srgbClr val="333333"/>
                </a:solidFill>
              </a:rPr>
              <a:t>• Turing Synthetic Radar Dataset (HuggingFace) — PDW calibration reference</a:t>
            </a:r>
          </a:p>
          <a:p>
            <a:r>
              <a:rPr sz="1100">
                <a:solidFill>
                  <a:srgbClr val="333333"/>
                </a:solidFill>
              </a:rPr>
              <a:t>• Synthetic RF environment generator — deterministic, seed-reproducible scenarios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METHODOLOGY REFERENCES:</a:t>
            </a:r>
          </a:p>
          <a:p>
            <a:r>
              <a:rPr sz="1100">
                <a:solidFill>
                  <a:srgbClr val="333333"/>
                </a:solidFill>
              </a:rPr>
              <a:t>• DoD Directive 5000.01 — Key Performance Parameters and T&amp;E methodology</a:t>
            </a:r>
          </a:p>
          <a:p>
            <a:r>
              <a:rPr sz="1100">
                <a:solidFill>
                  <a:srgbClr val="333333"/>
                </a:solidFill>
              </a:rPr>
              <a:t>• Holm, S. — "A Simple Sequentially Rejective Bonferroni Test" — statistical correction</a:t>
            </a:r>
          </a:p>
          <a:p>
            <a:r>
              <a:rPr sz="1100">
                <a:solidFill>
                  <a:srgbClr val="333333"/>
                </a:solidFill>
              </a:rPr>
              <a:t>• Rayleigh test for periodicity — period estimation significance testing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12354F"/>
                </a:solidFill>
              </a:rPr>
              <a:t>PROJECT URL: github.com/RARPlayzDev/Astra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